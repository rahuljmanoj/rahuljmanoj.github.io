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77" r:id="rId2"/>
    <p:sldId id="278" r:id="rId3"/>
    <p:sldId id="27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EA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43" d="100"/>
          <a:sy n="143" d="100"/>
        </p:scale>
        <p:origin x="132" y="2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C7F13-5688-495F-94FF-ACB5AECF2590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046AF-840C-4E78-A472-A4F63581AB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597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EDFE8-AE79-E66F-4311-8EC67FB76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84DC7D-22A8-989D-E8A9-DBA0BD02B1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BC9A46-B038-954E-AB5A-9A7105B3C5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used tow of the available information – structural and material to figure out the shape of the missing piece in the puzzle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F8BB2-5190-ABA2-45B0-FD2481F5EF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B166CC-C6FB-492A-95A4-8C623EABCFA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8407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7906A-146F-BFC8-FAC4-D7471DFB5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A893A8-8445-AF1B-9609-6FEF27056B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9A6A06-E94F-C566-25EF-9D187B10A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used tow of the available information – structural and material to figure out the shape of the missing piece in the puzzle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F2B3F-7749-512C-BE8F-5478CF7A99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B166CC-C6FB-492A-95A4-8C623EABCFA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9763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1145-2248-28A5-C2CC-03FCF6104A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C02AA-F747-28BF-243C-2FFFC0FCE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B0A65-9408-7F61-9132-52318B801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3F851-CC76-4C25-BFE1-5B708B5B2B78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2036F-DAD5-FDEC-C1C5-90DEE88A9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073F7-CC24-D9A6-8D7E-EBDC15A90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08803-30E8-4579-AEF1-81120B7CE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266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D931B-5496-C210-10E9-1A7A15B56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AADC9-2720-181D-8842-CB5A1A3AC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30077-9C0E-A15A-0D12-A58999061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3F851-CC76-4C25-BFE1-5B708B5B2B78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D0C66-9CC2-FAB3-3615-8489BE2A9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F894A-A268-888B-D40B-6A4BCC0DD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08803-30E8-4579-AEF1-81120B7CE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881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5AF8D-70FC-0245-D894-D193407E3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65B5F-5643-FA13-6A6D-0DB78126E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E4BE8-7252-9C10-4206-A41CFDFA4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3F851-CC76-4C25-BFE1-5B708B5B2B78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FC09B-21E5-36F9-4E7D-8DE7370B4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A33F0-BDD8-5F58-8414-8B4C69627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08803-30E8-4579-AEF1-81120B7CE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31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3F9B5-948B-536A-B97E-E54A5135C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39A70-6252-E253-8EED-92229688C5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43AF5-3CA8-5552-DA0D-2A446F0C96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F2DDBB-9450-F4E9-236B-08B6933FA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3F851-CC76-4C25-BFE1-5B708B5B2B78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028349-F6B9-267B-0F23-6AD5E0FE0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2DC54-8563-AD2B-A560-F20F6D2EE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08803-30E8-4579-AEF1-81120B7CE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087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75382-0D5A-A3AC-FAE8-9A78CD7E6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7796A-FBE5-5F9F-AB87-12B06D029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6EB91F-16A7-08FF-7E72-A17E7FC7C2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1FE58B-BF99-FFF7-46A3-8ED4D96EA9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465200-60B1-ED94-1FA2-D8A5BC0EB3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71BD5C-AB08-B244-6201-3EDD4C105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3F851-CC76-4C25-BFE1-5B708B5B2B78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F7C70D-C720-6E36-F089-AE89EECD7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987C6E-5B4C-CB0F-3062-BB97BDF05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08803-30E8-4579-AEF1-81120B7CE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207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F24A3-8232-5496-3C9C-3A0B1DB55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26FD0-1F54-D1EC-C490-3BEA3227A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3F851-CC76-4C25-BFE1-5B708B5B2B78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E4113F-1AB4-8269-9806-63985AC63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B87E48-507A-6FAE-5B7B-7CF313DEB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08803-30E8-4579-AEF1-81120B7CE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714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DD221B-82D4-8558-23C3-224022A1C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3F851-CC76-4C25-BFE1-5B708B5B2B78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B7B986-011B-B852-7873-6C6A635B7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7D4E8-584C-3250-E55D-EB322DD54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08803-30E8-4579-AEF1-81120B7CE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560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AAC82-093E-77C5-FD22-0B5F8EEF4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154A2-C140-2E1A-4099-4852C8D46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F609F-90E0-4557-316A-315CB87965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FC4F2-3321-F319-7D9C-A1D1C1639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3F851-CC76-4C25-BFE1-5B708B5B2B78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280B32-BD0F-5250-74BE-B3B43BF89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947731-1428-8108-2FD7-7D712DE39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08803-30E8-4579-AEF1-81120B7CE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035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14F69-B0FC-4C3C-2AA1-11C3FFC4C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2B7845-5BEC-40C5-A18F-F67151F40E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F5988-B492-7282-DCF3-CE2EBED274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BA1AE-B828-30DD-F13F-12CF682C2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3F851-CC76-4C25-BFE1-5B708B5B2B78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BBDE0-9923-B387-18D2-216086490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3EE66E-8C44-49C8-9F6A-48ED24CE2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08803-30E8-4579-AEF1-81120B7CE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996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17534-FDAE-4A81-F1B6-58B2B5375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B8F3AB-527F-9078-8204-27C9038170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221A9-0999-EA9C-BF6F-BCA823AE3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3F851-CC76-4C25-BFE1-5B708B5B2B78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94E17-CCC0-62CB-98AE-262C4F55E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EB4DE-CFF8-652B-948C-6FE562D9F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08803-30E8-4579-AEF1-81120B7CE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627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581CC0-D430-64CA-2AAF-11DF982475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D2B2FA-2ADC-7C1E-E43D-94A90C2490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A5413-5D44-6DEB-4240-9BE428B5E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3F851-CC76-4C25-BFE1-5B708B5B2B78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8FFC0-FF7D-7C34-5C01-174CF0F4E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C8833-B9D0-7DEC-84BF-B79BDA914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08803-30E8-4579-AEF1-81120B7CE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577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9B04AC-2683-6F08-3604-2EF96CBE9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FDC8F-DC3C-35E6-F97B-BC18C8A70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4F33B-7BD4-8F50-DBC3-E6DC9D0554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33F851-CC76-4C25-BFE1-5B708B5B2B78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74D8D-F61B-7BF7-C7C5-FED7C7557B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C7409-E24A-31EE-BC13-9BC6E787F6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508803-30E8-4579-AEF1-81120B7CE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518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2AD905-798F-E7D6-8318-907A0DD55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CE38029-51CD-BB8B-DA3F-01B30DD270B7}"/>
              </a:ext>
            </a:extLst>
          </p:cNvPr>
          <p:cNvGrpSpPr/>
          <p:nvPr/>
        </p:nvGrpSpPr>
        <p:grpSpPr>
          <a:xfrm>
            <a:off x="2359908" y="857821"/>
            <a:ext cx="8100229" cy="5100529"/>
            <a:chOff x="2359908" y="857821"/>
            <a:chExt cx="8100229" cy="5100529"/>
          </a:xfrm>
        </p:grpSpPr>
        <p:grpSp>
          <p:nvGrpSpPr>
            <p:cNvPr id="2105" name="Group 2104">
              <a:extLst>
                <a:ext uri="{FF2B5EF4-FFF2-40B4-BE49-F238E27FC236}">
                  <a16:creationId xmlns:a16="http://schemas.microsoft.com/office/drawing/2014/main" id="{F63C3B5A-32F6-4992-FC44-10BEC8780305}"/>
                </a:ext>
              </a:extLst>
            </p:cNvPr>
            <p:cNvGrpSpPr/>
            <p:nvPr/>
          </p:nvGrpSpPr>
          <p:grpSpPr>
            <a:xfrm>
              <a:off x="3879416" y="2666997"/>
              <a:ext cx="3601438" cy="3291353"/>
              <a:chOff x="3504511" y="3038593"/>
              <a:chExt cx="3601438" cy="3291353"/>
            </a:xfrm>
          </p:grpSpPr>
          <p:grpSp>
            <p:nvGrpSpPr>
              <p:cNvPr id="2089" name="Group 2088">
                <a:extLst>
                  <a:ext uri="{FF2B5EF4-FFF2-40B4-BE49-F238E27FC236}">
                    <a16:creationId xmlns:a16="http://schemas.microsoft.com/office/drawing/2014/main" id="{74AD74C3-CE6B-1939-EA2C-8A2A7DC117E9}"/>
                  </a:ext>
                </a:extLst>
              </p:cNvPr>
              <p:cNvGrpSpPr/>
              <p:nvPr/>
            </p:nvGrpSpPr>
            <p:grpSpPr>
              <a:xfrm>
                <a:off x="4657949" y="3038593"/>
                <a:ext cx="2448000" cy="1930972"/>
                <a:chOff x="5273899" y="3540243"/>
                <a:chExt cx="2448000" cy="1930972"/>
              </a:xfrm>
            </p:grpSpPr>
            <p:pic>
              <p:nvPicPr>
                <p:cNvPr id="2082" name="Picture 2081" descr="A heart with a black background&#10;&#10;AI-generated content may be incorrect.">
                  <a:extLst>
                    <a:ext uri="{FF2B5EF4-FFF2-40B4-BE49-F238E27FC236}">
                      <a16:creationId xmlns:a16="http://schemas.microsoft.com/office/drawing/2014/main" id="{A1AF2268-369C-69AF-CA01-4BF3D0C6C6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6265" t="47741" r="19478" b="904"/>
                <a:stretch/>
              </p:blipFill>
              <p:spPr>
                <a:xfrm>
                  <a:off x="5273899" y="3540243"/>
                  <a:ext cx="2448000" cy="1930972"/>
                </a:xfrm>
                <a:custGeom>
                  <a:avLst/>
                  <a:gdLst>
                    <a:gd name="connsiteX0" fmla="*/ 568684 w 2448000"/>
                    <a:gd name="connsiteY0" fmla="*/ 0 h 1930972"/>
                    <a:gd name="connsiteX1" fmla="*/ 858328 w 2448000"/>
                    <a:gd name="connsiteY1" fmla="*/ 285366 h 1930972"/>
                    <a:gd name="connsiteX2" fmla="*/ 857685 w 2448000"/>
                    <a:gd name="connsiteY2" fmla="*/ 291655 h 1930972"/>
                    <a:gd name="connsiteX3" fmla="*/ 1665377 w 2448000"/>
                    <a:gd name="connsiteY3" fmla="*/ 291655 h 1930972"/>
                    <a:gd name="connsiteX4" fmla="*/ 1955021 w 2448000"/>
                    <a:gd name="connsiteY4" fmla="*/ 577021 h 1930972"/>
                    <a:gd name="connsiteX5" fmla="*/ 2244666 w 2448000"/>
                    <a:gd name="connsiteY5" fmla="*/ 291655 h 1930972"/>
                    <a:gd name="connsiteX6" fmla="*/ 2448000 w 2448000"/>
                    <a:gd name="connsiteY6" fmla="*/ 291655 h 1930972"/>
                    <a:gd name="connsiteX7" fmla="*/ 2448000 w 2448000"/>
                    <a:gd name="connsiteY7" fmla="*/ 1662950 h 1930972"/>
                    <a:gd name="connsiteX8" fmla="*/ 1517557 w 2448000"/>
                    <a:gd name="connsiteY8" fmla="*/ 1662950 h 1930972"/>
                    <a:gd name="connsiteX9" fmla="*/ 1513720 w 2448000"/>
                    <a:gd name="connsiteY9" fmla="*/ 1701014 h 1930972"/>
                    <a:gd name="connsiteX10" fmla="*/ 1231571 w 2448000"/>
                    <a:gd name="connsiteY10" fmla="*/ 1930972 h 1930972"/>
                    <a:gd name="connsiteX11" fmla="*/ 949422 w 2448000"/>
                    <a:gd name="connsiteY11" fmla="*/ 1701014 h 1930972"/>
                    <a:gd name="connsiteX12" fmla="*/ 945585 w 2448000"/>
                    <a:gd name="connsiteY12" fmla="*/ 1662950 h 1930972"/>
                    <a:gd name="connsiteX13" fmla="*/ 0 w 2448000"/>
                    <a:gd name="connsiteY13" fmla="*/ 1662950 h 1930972"/>
                    <a:gd name="connsiteX14" fmla="*/ 0 w 2448000"/>
                    <a:gd name="connsiteY14" fmla="*/ 291655 h 1930972"/>
                    <a:gd name="connsiteX15" fmla="*/ 279684 w 2448000"/>
                    <a:gd name="connsiteY15" fmla="*/ 291655 h 1930972"/>
                    <a:gd name="connsiteX16" fmla="*/ 279041 w 2448000"/>
                    <a:gd name="connsiteY16" fmla="*/ 285366 h 1930972"/>
                    <a:gd name="connsiteX17" fmla="*/ 568684 w 2448000"/>
                    <a:gd name="connsiteY17" fmla="*/ 0 h 19309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448000" h="1930972">
                      <a:moveTo>
                        <a:pt x="568684" y="0"/>
                      </a:moveTo>
                      <a:cubicBezTo>
                        <a:pt x="728651" y="0"/>
                        <a:pt x="858328" y="127763"/>
                        <a:pt x="858328" y="285366"/>
                      </a:cubicBezTo>
                      <a:lnTo>
                        <a:pt x="857685" y="291655"/>
                      </a:lnTo>
                      <a:lnTo>
                        <a:pt x="1665377" y="291655"/>
                      </a:lnTo>
                      <a:cubicBezTo>
                        <a:pt x="1665377" y="449258"/>
                        <a:pt x="1795056" y="577021"/>
                        <a:pt x="1955021" y="577021"/>
                      </a:cubicBezTo>
                      <a:cubicBezTo>
                        <a:pt x="2114987" y="577021"/>
                        <a:pt x="2244666" y="449258"/>
                        <a:pt x="2244666" y="291655"/>
                      </a:cubicBezTo>
                      <a:lnTo>
                        <a:pt x="2448000" y="291655"/>
                      </a:lnTo>
                      <a:lnTo>
                        <a:pt x="2448000" y="1662950"/>
                      </a:lnTo>
                      <a:lnTo>
                        <a:pt x="1517557" y="1662950"/>
                      </a:lnTo>
                      <a:lnTo>
                        <a:pt x="1513720" y="1701014"/>
                      </a:lnTo>
                      <a:cubicBezTo>
                        <a:pt x="1486865" y="1832251"/>
                        <a:pt x="1370747" y="1930972"/>
                        <a:pt x="1231571" y="1930972"/>
                      </a:cubicBezTo>
                      <a:cubicBezTo>
                        <a:pt x="1092396" y="1930972"/>
                        <a:pt x="976277" y="1832251"/>
                        <a:pt x="949422" y="1701014"/>
                      </a:cubicBezTo>
                      <a:lnTo>
                        <a:pt x="945585" y="1662950"/>
                      </a:lnTo>
                      <a:lnTo>
                        <a:pt x="0" y="1662950"/>
                      </a:lnTo>
                      <a:lnTo>
                        <a:pt x="0" y="291655"/>
                      </a:lnTo>
                      <a:lnTo>
                        <a:pt x="279684" y="291655"/>
                      </a:lnTo>
                      <a:lnTo>
                        <a:pt x="279041" y="285366"/>
                      </a:lnTo>
                      <a:cubicBezTo>
                        <a:pt x="279041" y="127763"/>
                        <a:pt x="408718" y="0"/>
                        <a:pt x="568684" y="0"/>
                      </a:cubicBezTo>
                      <a:close/>
                    </a:path>
                  </a:pathLst>
                </a:custGeom>
                <a:ln w="9525">
                  <a:solidFill>
                    <a:schemeClr val="tx1"/>
                  </a:solidFill>
                </a:ln>
              </p:spPr>
            </p:pic>
            <p:sp>
              <p:nvSpPr>
                <p:cNvPr id="2083" name="TextBox 2082">
                  <a:extLst>
                    <a:ext uri="{FF2B5EF4-FFF2-40B4-BE49-F238E27FC236}">
                      <a16:creationId xmlns:a16="http://schemas.microsoft.com/office/drawing/2014/main" id="{214F814C-A6DF-9326-26B5-169930D3B664}"/>
                    </a:ext>
                  </a:extLst>
                </p:cNvPr>
                <p:cNvSpPr txBox="1"/>
                <p:nvPr/>
              </p:nvSpPr>
              <p:spPr>
                <a:xfrm>
                  <a:off x="5754054" y="4086806"/>
                  <a:ext cx="1592001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00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structural</a:t>
                  </a:r>
                </a:p>
              </p:txBody>
            </p:sp>
          </p:grpSp>
          <p:grpSp>
            <p:nvGrpSpPr>
              <p:cNvPr id="2092" name="Group 2091">
                <a:extLst>
                  <a:ext uri="{FF2B5EF4-FFF2-40B4-BE49-F238E27FC236}">
                    <a16:creationId xmlns:a16="http://schemas.microsoft.com/office/drawing/2014/main" id="{6A4E8CA1-050D-08C3-906D-A51303C24786}"/>
                  </a:ext>
                </a:extLst>
              </p:cNvPr>
              <p:cNvGrpSpPr/>
              <p:nvPr/>
            </p:nvGrpSpPr>
            <p:grpSpPr>
              <a:xfrm>
                <a:off x="3504511" y="3558752"/>
                <a:ext cx="2870401" cy="2771194"/>
                <a:chOff x="3555339" y="3558752"/>
                <a:chExt cx="2870401" cy="2771194"/>
              </a:xfrm>
            </p:grpSpPr>
            <p:pic>
              <p:nvPicPr>
                <p:cNvPr id="2090" name="Picture 2089" descr="A medical device with a screen&#10;&#10;AI-generated content may be incorrect.">
                  <a:extLst>
                    <a:ext uri="{FF2B5EF4-FFF2-40B4-BE49-F238E27FC236}">
                      <a16:creationId xmlns:a16="http://schemas.microsoft.com/office/drawing/2014/main" id="{1C032DF4-EA44-ADEC-F8C5-05B95961E2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4087" r="22109"/>
                <a:stretch/>
              </p:blipFill>
              <p:spPr>
                <a:xfrm>
                  <a:off x="3555339" y="3558752"/>
                  <a:ext cx="1429873" cy="2771194"/>
                </a:xfrm>
                <a:prstGeom prst="rect">
                  <a:avLst/>
                </a:prstGeom>
              </p:spPr>
            </p:pic>
            <p:sp>
              <p:nvSpPr>
                <p:cNvPr id="2091" name="TextBox 2090">
                  <a:extLst>
                    <a:ext uri="{FF2B5EF4-FFF2-40B4-BE49-F238E27FC236}">
                      <a16:creationId xmlns:a16="http://schemas.microsoft.com/office/drawing/2014/main" id="{F68E6425-52E9-BDA4-FC46-1D8458584EE4}"/>
                    </a:ext>
                  </a:extLst>
                </p:cNvPr>
                <p:cNvSpPr txBox="1"/>
                <p:nvPr/>
              </p:nvSpPr>
              <p:spPr>
                <a:xfrm>
                  <a:off x="4455233" y="5047848"/>
                  <a:ext cx="197050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Echocardiography</a:t>
                  </a:r>
                </a:p>
              </p:txBody>
            </p:sp>
          </p:grpSp>
        </p:grpSp>
        <p:grpSp>
          <p:nvGrpSpPr>
            <p:cNvPr id="2106" name="Group 2105">
              <a:extLst>
                <a:ext uri="{FF2B5EF4-FFF2-40B4-BE49-F238E27FC236}">
                  <a16:creationId xmlns:a16="http://schemas.microsoft.com/office/drawing/2014/main" id="{5D447692-D834-99C2-5756-415518FAD9AC}"/>
                </a:ext>
              </a:extLst>
            </p:cNvPr>
            <p:cNvGrpSpPr/>
            <p:nvPr/>
          </p:nvGrpSpPr>
          <p:grpSpPr>
            <a:xfrm>
              <a:off x="2359908" y="857822"/>
              <a:ext cx="3958575" cy="2092789"/>
              <a:chOff x="1985003" y="1229418"/>
              <a:chExt cx="3958575" cy="2092789"/>
            </a:xfrm>
          </p:grpSpPr>
          <p:grpSp>
            <p:nvGrpSpPr>
              <p:cNvPr id="2087" name="Group 2086">
                <a:extLst>
                  <a:ext uri="{FF2B5EF4-FFF2-40B4-BE49-F238E27FC236}">
                    <a16:creationId xmlns:a16="http://schemas.microsoft.com/office/drawing/2014/main" id="{A4BDC47E-56A2-C00D-711D-99BD5CEE2969}"/>
                  </a:ext>
                </a:extLst>
              </p:cNvPr>
              <p:cNvGrpSpPr/>
              <p:nvPr/>
            </p:nvGrpSpPr>
            <p:grpSpPr>
              <a:xfrm>
                <a:off x="4370261" y="1229418"/>
                <a:ext cx="1573317" cy="2092789"/>
                <a:chOff x="4986211" y="1413568"/>
                <a:chExt cx="1573317" cy="2092789"/>
              </a:xfrm>
            </p:grpSpPr>
            <p:pic>
              <p:nvPicPr>
                <p:cNvPr id="2079" name="Picture 2078" descr="A heart with a black background&#10;&#10;AI-generated content may be incorrect.">
                  <a:extLst>
                    <a:ext uri="{FF2B5EF4-FFF2-40B4-BE49-F238E27FC236}">
                      <a16:creationId xmlns:a16="http://schemas.microsoft.com/office/drawing/2014/main" id="{B5B402BD-F161-2DB5-472A-AC7A34435B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667" t="371" r="50864" b="44479"/>
                <a:stretch/>
              </p:blipFill>
              <p:spPr>
                <a:xfrm>
                  <a:off x="4986211" y="1413568"/>
                  <a:ext cx="1535687" cy="2092789"/>
                </a:xfrm>
                <a:custGeom>
                  <a:avLst/>
                  <a:gdLst>
                    <a:gd name="connsiteX0" fmla="*/ 911999 w 1535687"/>
                    <a:gd name="connsiteY0" fmla="*/ 0 h 2092789"/>
                    <a:gd name="connsiteX1" fmla="*/ 1199999 w 1535687"/>
                    <a:gd name="connsiteY1" fmla="*/ 288000 h 2092789"/>
                    <a:gd name="connsiteX2" fmla="*/ 1199725 w 1535687"/>
                    <a:gd name="connsiteY2" fmla="*/ 290717 h 2092789"/>
                    <a:gd name="connsiteX3" fmla="*/ 1535687 w 1535687"/>
                    <a:gd name="connsiteY3" fmla="*/ 290717 h 2092789"/>
                    <a:gd name="connsiteX4" fmla="*/ 1535687 w 1535687"/>
                    <a:gd name="connsiteY4" fmla="*/ 870602 h 2092789"/>
                    <a:gd name="connsiteX5" fmla="*/ 1505207 w 1535687"/>
                    <a:gd name="connsiteY5" fmla="*/ 867529 h 2092789"/>
                    <a:gd name="connsiteX6" fmla="*/ 1217207 w 1535687"/>
                    <a:gd name="connsiteY6" fmla="*/ 1155529 h 2092789"/>
                    <a:gd name="connsiteX7" fmla="*/ 1505207 w 1535687"/>
                    <a:gd name="connsiteY7" fmla="*/ 1443529 h 2092789"/>
                    <a:gd name="connsiteX8" fmla="*/ 1535687 w 1535687"/>
                    <a:gd name="connsiteY8" fmla="*/ 1440456 h 2092789"/>
                    <a:gd name="connsiteX9" fmla="*/ 1535687 w 1535687"/>
                    <a:gd name="connsiteY9" fmla="*/ 2092789 h 2092789"/>
                    <a:gd name="connsiteX10" fmla="*/ 1144029 w 1535687"/>
                    <a:gd name="connsiteY10" fmla="*/ 2092789 h 2092789"/>
                    <a:gd name="connsiteX11" fmla="*/ 856029 w 1535687"/>
                    <a:gd name="connsiteY11" fmla="*/ 1804789 h 2092789"/>
                    <a:gd name="connsiteX12" fmla="*/ 568029 w 1535687"/>
                    <a:gd name="connsiteY12" fmla="*/ 2092789 h 2092789"/>
                    <a:gd name="connsiteX13" fmla="*/ 288311 w 1535687"/>
                    <a:gd name="connsiteY13" fmla="*/ 2092789 h 2092789"/>
                    <a:gd name="connsiteX14" fmla="*/ 288311 w 1535687"/>
                    <a:gd name="connsiteY14" fmla="*/ 1443387 h 2092789"/>
                    <a:gd name="connsiteX15" fmla="*/ 288000 w 1535687"/>
                    <a:gd name="connsiteY15" fmla="*/ 1443418 h 2092789"/>
                    <a:gd name="connsiteX16" fmla="*/ 0 w 1535687"/>
                    <a:gd name="connsiteY16" fmla="*/ 1155418 h 2092789"/>
                    <a:gd name="connsiteX17" fmla="*/ 288000 w 1535687"/>
                    <a:gd name="connsiteY17" fmla="*/ 867418 h 2092789"/>
                    <a:gd name="connsiteX18" fmla="*/ 288311 w 1535687"/>
                    <a:gd name="connsiteY18" fmla="*/ 867450 h 2092789"/>
                    <a:gd name="connsiteX19" fmla="*/ 288311 w 1535687"/>
                    <a:gd name="connsiteY19" fmla="*/ 290717 h 2092789"/>
                    <a:gd name="connsiteX20" fmla="*/ 624273 w 1535687"/>
                    <a:gd name="connsiteY20" fmla="*/ 290717 h 2092789"/>
                    <a:gd name="connsiteX21" fmla="*/ 623999 w 1535687"/>
                    <a:gd name="connsiteY21" fmla="*/ 288000 h 2092789"/>
                    <a:gd name="connsiteX22" fmla="*/ 911999 w 1535687"/>
                    <a:gd name="connsiteY22" fmla="*/ 0 h 20927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1535687" h="2092789">
                      <a:moveTo>
                        <a:pt x="911999" y="0"/>
                      </a:moveTo>
                      <a:cubicBezTo>
                        <a:pt x="1071057" y="0"/>
                        <a:pt x="1199999" y="128942"/>
                        <a:pt x="1199999" y="288000"/>
                      </a:cubicBezTo>
                      <a:lnTo>
                        <a:pt x="1199725" y="290717"/>
                      </a:lnTo>
                      <a:lnTo>
                        <a:pt x="1535687" y="290717"/>
                      </a:lnTo>
                      <a:lnTo>
                        <a:pt x="1535687" y="870602"/>
                      </a:lnTo>
                      <a:lnTo>
                        <a:pt x="1505207" y="867529"/>
                      </a:lnTo>
                      <a:cubicBezTo>
                        <a:pt x="1346149" y="867529"/>
                        <a:pt x="1217207" y="996471"/>
                        <a:pt x="1217207" y="1155529"/>
                      </a:cubicBezTo>
                      <a:cubicBezTo>
                        <a:pt x="1217207" y="1314587"/>
                        <a:pt x="1346149" y="1443529"/>
                        <a:pt x="1505207" y="1443529"/>
                      </a:cubicBezTo>
                      <a:lnTo>
                        <a:pt x="1535687" y="1440456"/>
                      </a:lnTo>
                      <a:lnTo>
                        <a:pt x="1535687" y="2092789"/>
                      </a:lnTo>
                      <a:lnTo>
                        <a:pt x="1144029" y="2092789"/>
                      </a:lnTo>
                      <a:cubicBezTo>
                        <a:pt x="1144029" y="1933731"/>
                        <a:pt x="1015087" y="1804789"/>
                        <a:pt x="856029" y="1804789"/>
                      </a:cubicBezTo>
                      <a:cubicBezTo>
                        <a:pt x="696971" y="1804789"/>
                        <a:pt x="568029" y="1933731"/>
                        <a:pt x="568029" y="2092789"/>
                      </a:cubicBezTo>
                      <a:lnTo>
                        <a:pt x="288311" y="2092789"/>
                      </a:lnTo>
                      <a:lnTo>
                        <a:pt x="288311" y="1443387"/>
                      </a:lnTo>
                      <a:lnTo>
                        <a:pt x="288000" y="1443418"/>
                      </a:lnTo>
                      <a:cubicBezTo>
                        <a:pt x="128942" y="1443418"/>
                        <a:pt x="0" y="1314476"/>
                        <a:pt x="0" y="1155418"/>
                      </a:cubicBezTo>
                      <a:cubicBezTo>
                        <a:pt x="0" y="996360"/>
                        <a:pt x="128942" y="867418"/>
                        <a:pt x="288000" y="867418"/>
                      </a:cubicBezTo>
                      <a:lnTo>
                        <a:pt x="288311" y="867450"/>
                      </a:lnTo>
                      <a:lnTo>
                        <a:pt x="288311" y="290717"/>
                      </a:lnTo>
                      <a:lnTo>
                        <a:pt x="624273" y="290717"/>
                      </a:lnTo>
                      <a:lnTo>
                        <a:pt x="623999" y="288000"/>
                      </a:lnTo>
                      <a:cubicBezTo>
                        <a:pt x="623999" y="128942"/>
                        <a:pt x="752941" y="0"/>
                        <a:pt x="911999" y="0"/>
                      </a:cubicBezTo>
                      <a:close/>
                    </a:path>
                  </a:pathLst>
                </a:custGeom>
                <a:ln w="9525">
                  <a:solidFill>
                    <a:schemeClr val="tx1"/>
                  </a:solidFill>
                </a:ln>
              </p:spPr>
            </p:pic>
            <p:sp>
              <p:nvSpPr>
                <p:cNvPr id="2086" name="TextBox 2085">
                  <a:extLst>
                    <a:ext uri="{FF2B5EF4-FFF2-40B4-BE49-F238E27FC236}">
                      <a16:creationId xmlns:a16="http://schemas.microsoft.com/office/drawing/2014/main" id="{35F99CDC-A90F-3202-E5D0-33B56DB03450}"/>
                    </a:ext>
                  </a:extLst>
                </p:cNvPr>
                <p:cNvSpPr txBox="1"/>
                <p:nvPr/>
              </p:nvSpPr>
              <p:spPr>
                <a:xfrm rot="18900000">
                  <a:off x="5144939" y="2316625"/>
                  <a:ext cx="1414589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00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material</a:t>
                  </a:r>
                </a:p>
              </p:txBody>
            </p:sp>
          </p:grpSp>
          <p:grpSp>
            <p:nvGrpSpPr>
              <p:cNvPr id="2099" name="Group 2098">
                <a:extLst>
                  <a:ext uri="{FF2B5EF4-FFF2-40B4-BE49-F238E27FC236}">
                    <a16:creationId xmlns:a16="http://schemas.microsoft.com/office/drawing/2014/main" id="{F040C0FD-B7CE-356D-D12E-4A7095D531B6}"/>
                  </a:ext>
                </a:extLst>
              </p:cNvPr>
              <p:cNvGrpSpPr/>
              <p:nvPr/>
            </p:nvGrpSpPr>
            <p:grpSpPr>
              <a:xfrm>
                <a:off x="1985003" y="1303253"/>
                <a:ext cx="2949381" cy="1617067"/>
                <a:chOff x="1932601" y="1365048"/>
                <a:chExt cx="2949381" cy="1617067"/>
              </a:xfrm>
            </p:grpSpPr>
            <p:sp>
              <p:nvSpPr>
                <p:cNvPr id="2096" name="TextBox 2095">
                  <a:extLst>
                    <a:ext uri="{FF2B5EF4-FFF2-40B4-BE49-F238E27FC236}">
                      <a16:creationId xmlns:a16="http://schemas.microsoft.com/office/drawing/2014/main" id="{3D5B71F6-9654-9709-6439-1B461B94FE24}"/>
                    </a:ext>
                  </a:extLst>
                </p:cNvPr>
                <p:cNvSpPr txBox="1"/>
                <p:nvPr/>
              </p:nvSpPr>
              <p:spPr>
                <a:xfrm>
                  <a:off x="1932601" y="2612783"/>
                  <a:ext cx="294938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Shear Wave Elastography</a:t>
                  </a:r>
                </a:p>
              </p:txBody>
            </p:sp>
            <p:grpSp>
              <p:nvGrpSpPr>
                <p:cNvPr id="2098" name="Group 2097">
                  <a:extLst>
                    <a:ext uri="{FF2B5EF4-FFF2-40B4-BE49-F238E27FC236}">
                      <a16:creationId xmlns:a16="http://schemas.microsoft.com/office/drawing/2014/main" id="{D33CD91D-13BD-A99B-5E70-541043F98A00}"/>
                    </a:ext>
                  </a:extLst>
                </p:cNvPr>
                <p:cNvGrpSpPr/>
                <p:nvPr/>
              </p:nvGrpSpPr>
              <p:grpSpPr>
                <a:xfrm>
                  <a:off x="2688567" y="1365048"/>
                  <a:ext cx="1772146" cy="1449156"/>
                  <a:chOff x="2688567" y="1365048"/>
                  <a:chExt cx="1772146" cy="1449156"/>
                </a:xfrm>
              </p:grpSpPr>
              <p:pic>
                <p:nvPicPr>
                  <p:cNvPr id="2095" name="Picture 2094" descr="A diagram of a heart&#10;&#10;AI-generated content may be incorrect.">
                    <a:extLst>
                      <a:ext uri="{FF2B5EF4-FFF2-40B4-BE49-F238E27FC236}">
                        <a16:creationId xmlns:a16="http://schemas.microsoft.com/office/drawing/2014/main" id="{9B81D7F3-4714-A2ED-4251-25DB72BB426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51764" t="20072" r="3106" b="10479"/>
                  <a:stretch/>
                </p:blipFill>
                <p:spPr>
                  <a:xfrm>
                    <a:off x="2688567" y="1365048"/>
                    <a:ext cx="1772146" cy="1449156"/>
                  </a:xfrm>
                  <a:prstGeom prst="rect">
                    <a:avLst/>
                  </a:prstGeom>
                </p:spPr>
              </p:pic>
              <p:sp>
                <p:nvSpPr>
                  <p:cNvPr id="2097" name="Oval 2096">
                    <a:extLst>
                      <a:ext uri="{FF2B5EF4-FFF2-40B4-BE49-F238E27FC236}">
                        <a16:creationId xmlns:a16="http://schemas.microsoft.com/office/drawing/2014/main" id="{E1895305-CEF3-75EA-E427-F116A9CF47D5}"/>
                      </a:ext>
                    </a:extLst>
                  </p:cNvPr>
                  <p:cNvSpPr/>
                  <p:nvPr/>
                </p:nvSpPr>
                <p:spPr>
                  <a:xfrm>
                    <a:off x="4160965" y="1370316"/>
                    <a:ext cx="184150" cy="186644"/>
                  </a:xfrm>
                  <a:prstGeom prst="ellipse">
                    <a:avLst/>
                  </a:prstGeom>
                  <a:solidFill>
                    <a:srgbClr val="DCEAF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  <p:grpSp>
          <p:nvGrpSpPr>
            <p:cNvPr id="2088" name="Group 2087">
              <a:extLst>
                <a:ext uri="{FF2B5EF4-FFF2-40B4-BE49-F238E27FC236}">
                  <a16:creationId xmlns:a16="http://schemas.microsoft.com/office/drawing/2014/main" id="{1B414B9C-926A-9810-0555-3A4D26EAA9BB}"/>
                </a:ext>
              </a:extLst>
            </p:cNvPr>
            <p:cNvGrpSpPr/>
            <p:nvPr/>
          </p:nvGrpSpPr>
          <p:grpSpPr>
            <a:xfrm>
              <a:off x="5975069" y="857821"/>
              <a:ext cx="1798942" cy="2380792"/>
              <a:chOff x="8216364" y="1413567"/>
              <a:chExt cx="1798942" cy="2380792"/>
            </a:xfrm>
          </p:grpSpPr>
          <p:pic>
            <p:nvPicPr>
              <p:cNvPr id="2081" name="Picture 2080" descr="A heart with a black background&#10;&#10;AI-generated content may be incorrect.">
                <a:extLst>
                  <a:ext uri="{FF2B5EF4-FFF2-40B4-BE49-F238E27FC236}">
                    <a16:creationId xmlns:a16="http://schemas.microsoft.com/office/drawing/2014/main" id="{9D5B03C0-4ABA-A3F4-0213-832A53E9DA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0705" t="371" r="11889" b="36890"/>
              <a:stretch/>
            </p:blipFill>
            <p:spPr>
              <a:xfrm>
                <a:off x="8216364" y="1413567"/>
                <a:ext cx="1798942" cy="2380792"/>
              </a:xfrm>
              <a:custGeom>
                <a:avLst/>
                <a:gdLst>
                  <a:gd name="connsiteX0" fmla="*/ 935822 w 1798942"/>
                  <a:gd name="connsiteY0" fmla="*/ 0 h 2380792"/>
                  <a:gd name="connsiteX1" fmla="*/ 1223822 w 1798942"/>
                  <a:gd name="connsiteY1" fmla="*/ 288000 h 2380792"/>
                  <a:gd name="connsiteX2" fmla="*/ 1223548 w 1798942"/>
                  <a:gd name="connsiteY2" fmla="*/ 290717 h 2380792"/>
                  <a:gd name="connsiteX3" fmla="*/ 1510942 w 1798942"/>
                  <a:gd name="connsiteY3" fmla="*/ 290717 h 2380792"/>
                  <a:gd name="connsiteX4" fmla="*/ 1510942 w 1798942"/>
                  <a:gd name="connsiteY4" fmla="*/ 833666 h 2380792"/>
                  <a:gd name="connsiteX5" fmla="*/ 1798942 w 1798942"/>
                  <a:gd name="connsiteY5" fmla="*/ 1121666 h 2380792"/>
                  <a:gd name="connsiteX6" fmla="*/ 1510942 w 1798942"/>
                  <a:gd name="connsiteY6" fmla="*/ 1409666 h 2380792"/>
                  <a:gd name="connsiteX7" fmla="*/ 1510942 w 1798942"/>
                  <a:gd name="connsiteY7" fmla="*/ 2092792 h 2380792"/>
                  <a:gd name="connsiteX8" fmla="*/ 1311814 w 1798942"/>
                  <a:gd name="connsiteY8" fmla="*/ 2092792 h 2380792"/>
                  <a:gd name="connsiteX9" fmla="*/ 1023814 w 1798942"/>
                  <a:gd name="connsiteY9" fmla="*/ 2380792 h 2380792"/>
                  <a:gd name="connsiteX10" fmla="*/ 735814 w 1798942"/>
                  <a:gd name="connsiteY10" fmla="*/ 2092792 h 2380792"/>
                  <a:gd name="connsiteX11" fmla="*/ 315377 w 1798942"/>
                  <a:gd name="connsiteY11" fmla="*/ 2092792 h 2380792"/>
                  <a:gd name="connsiteX12" fmla="*/ 315377 w 1798942"/>
                  <a:gd name="connsiteY12" fmla="*/ 1448392 h 2380792"/>
                  <a:gd name="connsiteX13" fmla="*/ 288000 w 1798942"/>
                  <a:gd name="connsiteY13" fmla="*/ 1451152 h 2380792"/>
                  <a:gd name="connsiteX14" fmla="*/ 0 w 1798942"/>
                  <a:gd name="connsiteY14" fmla="*/ 1163152 h 2380792"/>
                  <a:gd name="connsiteX15" fmla="*/ 288000 w 1798942"/>
                  <a:gd name="connsiteY15" fmla="*/ 875152 h 2380792"/>
                  <a:gd name="connsiteX16" fmla="*/ 315377 w 1798942"/>
                  <a:gd name="connsiteY16" fmla="*/ 877912 h 2380792"/>
                  <a:gd name="connsiteX17" fmla="*/ 315377 w 1798942"/>
                  <a:gd name="connsiteY17" fmla="*/ 290717 h 2380792"/>
                  <a:gd name="connsiteX18" fmla="*/ 648096 w 1798942"/>
                  <a:gd name="connsiteY18" fmla="*/ 290717 h 2380792"/>
                  <a:gd name="connsiteX19" fmla="*/ 647822 w 1798942"/>
                  <a:gd name="connsiteY19" fmla="*/ 288000 h 2380792"/>
                  <a:gd name="connsiteX20" fmla="*/ 935822 w 1798942"/>
                  <a:gd name="connsiteY20" fmla="*/ 0 h 2380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98942" h="2380792">
                    <a:moveTo>
                      <a:pt x="935822" y="0"/>
                    </a:moveTo>
                    <a:cubicBezTo>
                      <a:pt x="1094880" y="0"/>
                      <a:pt x="1223822" y="128942"/>
                      <a:pt x="1223822" y="288000"/>
                    </a:cubicBezTo>
                    <a:lnTo>
                      <a:pt x="1223548" y="290717"/>
                    </a:lnTo>
                    <a:lnTo>
                      <a:pt x="1510942" y="290717"/>
                    </a:lnTo>
                    <a:lnTo>
                      <a:pt x="1510942" y="833666"/>
                    </a:lnTo>
                    <a:cubicBezTo>
                      <a:pt x="1670000" y="833666"/>
                      <a:pt x="1798942" y="962608"/>
                      <a:pt x="1798942" y="1121666"/>
                    </a:cubicBezTo>
                    <a:cubicBezTo>
                      <a:pt x="1798942" y="1280724"/>
                      <a:pt x="1670000" y="1409666"/>
                      <a:pt x="1510942" y="1409666"/>
                    </a:cubicBezTo>
                    <a:lnTo>
                      <a:pt x="1510942" y="2092792"/>
                    </a:lnTo>
                    <a:lnTo>
                      <a:pt x="1311814" y="2092792"/>
                    </a:lnTo>
                    <a:cubicBezTo>
                      <a:pt x="1311814" y="2251850"/>
                      <a:pt x="1182872" y="2380792"/>
                      <a:pt x="1023814" y="2380792"/>
                    </a:cubicBezTo>
                    <a:cubicBezTo>
                      <a:pt x="864756" y="2380792"/>
                      <a:pt x="735814" y="2251850"/>
                      <a:pt x="735814" y="2092792"/>
                    </a:cubicBezTo>
                    <a:lnTo>
                      <a:pt x="315377" y="2092792"/>
                    </a:lnTo>
                    <a:lnTo>
                      <a:pt x="315377" y="1448392"/>
                    </a:lnTo>
                    <a:lnTo>
                      <a:pt x="288000" y="1451152"/>
                    </a:lnTo>
                    <a:cubicBezTo>
                      <a:pt x="128942" y="1451152"/>
                      <a:pt x="0" y="1322210"/>
                      <a:pt x="0" y="1163152"/>
                    </a:cubicBezTo>
                    <a:cubicBezTo>
                      <a:pt x="0" y="1004094"/>
                      <a:pt x="128942" y="875152"/>
                      <a:pt x="288000" y="875152"/>
                    </a:cubicBezTo>
                    <a:lnTo>
                      <a:pt x="315377" y="877912"/>
                    </a:lnTo>
                    <a:lnTo>
                      <a:pt x="315377" y="290717"/>
                    </a:lnTo>
                    <a:lnTo>
                      <a:pt x="648096" y="290717"/>
                    </a:lnTo>
                    <a:lnTo>
                      <a:pt x="647822" y="288000"/>
                    </a:lnTo>
                    <a:cubicBezTo>
                      <a:pt x="647822" y="128942"/>
                      <a:pt x="776764" y="0"/>
                      <a:pt x="935822" y="0"/>
                    </a:cubicBezTo>
                    <a:close/>
                  </a:path>
                </a:pathLst>
              </a:custGeom>
              <a:ln w="9525">
                <a:solidFill>
                  <a:schemeClr val="tx1"/>
                </a:solidFill>
              </a:ln>
            </p:spPr>
          </p:pic>
          <p:sp>
            <p:nvSpPr>
              <p:cNvPr id="2085" name="TextBox 2084">
                <a:extLst>
                  <a:ext uri="{FF2B5EF4-FFF2-40B4-BE49-F238E27FC236}">
                    <a16:creationId xmlns:a16="http://schemas.microsoft.com/office/drawing/2014/main" id="{355F9C3B-DBDD-348D-B4B3-E99DA024ADF5}"/>
                  </a:ext>
                </a:extLst>
              </p:cNvPr>
              <p:cNvSpPr txBox="1"/>
              <p:nvPr/>
            </p:nvSpPr>
            <p:spPr>
              <a:xfrm rot="16200000">
                <a:off x="8353879" y="2535324"/>
                <a:ext cx="168179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functional</a:t>
                </a:r>
              </a:p>
            </p:txBody>
          </p:sp>
        </p:grpSp>
        <p:grpSp>
          <p:nvGrpSpPr>
            <p:cNvPr id="2104" name="Group 2103">
              <a:extLst>
                <a:ext uri="{FF2B5EF4-FFF2-40B4-BE49-F238E27FC236}">
                  <a16:creationId xmlns:a16="http://schemas.microsoft.com/office/drawing/2014/main" id="{0499BB9A-7668-4803-1B3D-4AB8FFF3E67B}"/>
                </a:ext>
              </a:extLst>
            </p:cNvPr>
            <p:cNvGrpSpPr/>
            <p:nvPr/>
          </p:nvGrpSpPr>
          <p:grpSpPr>
            <a:xfrm>
              <a:off x="7419831" y="1123569"/>
              <a:ext cx="3040306" cy="1794487"/>
              <a:chOff x="7044926" y="1495165"/>
              <a:chExt cx="3040306" cy="1794487"/>
            </a:xfrm>
          </p:grpSpPr>
          <p:pic>
            <p:nvPicPr>
              <p:cNvPr id="2101" name="Picture 2100" descr="A close-up of a pressure gauge&#10;&#10;AI-generated content may be incorrect.">
                <a:extLst>
                  <a:ext uri="{FF2B5EF4-FFF2-40B4-BE49-F238E27FC236}">
                    <a16:creationId xmlns:a16="http://schemas.microsoft.com/office/drawing/2014/main" id="{82980486-996F-944B-EE15-9B9911C39D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44926" y="1495165"/>
                <a:ext cx="1632479" cy="1632479"/>
              </a:xfrm>
              <a:prstGeom prst="rect">
                <a:avLst/>
              </a:prstGeom>
            </p:spPr>
          </p:pic>
          <p:sp>
            <p:nvSpPr>
              <p:cNvPr id="2103" name="TextBox 2102">
                <a:extLst>
                  <a:ext uri="{FF2B5EF4-FFF2-40B4-BE49-F238E27FC236}">
                    <a16:creationId xmlns:a16="http://schemas.microsoft.com/office/drawing/2014/main" id="{835BEE54-E70B-F8BA-8299-44811D2D390D}"/>
                  </a:ext>
                </a:extLst>
              </p:cNvPr>
              <p:cNvSpPr txBox="1"/>
              <p:nvPr/>
            </p:nvSpPr>
            <p:spPr>
              <a:xfrm>
                <a:off x="7135851" y="2920320"/>
                <a:ext cx="29493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Left Ventricle Filling Pressure</a:t>
                </a:r>
              </a:p>
            </p:txBody>
          </p:sp>
        </p:grpSp>
        <p:pic>
          <p:nvPicPr>
            <p:cNvPr id="16" name="Picture 15" descr="A heart with a black background&#10;&#10;AI-generated content may be incorrect.">
              <a:extLst>
                <a:ext uri="{FF2B5EF4-FFF2-40B4-BE49-F238E27FC236}">
                  <a16:creationId xmlns:a16="http://schemas.microsoft.com/office/drawing/2014/main" id="{5B94F61A-C7CE-796A-8F99-A1A118E1DD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705" t="371" r="11889" b="36890"/>
            <a:stretch/>
          </p:blipFill>
          <p:spPr>
            <a:xfrm>
              <a:off x="5975069" y="859036"/>
              <a:ext cx="1798942" cy="2380792"/>
            </a:xfrm>
            <a:custGeom>
              <a:avLst/>
              <a:gdLst>
                <a:gd name="connsiteX0" fmla="*/ 935822 w 1798942"/>
                <a:gd name="connsiteY0" fmla="*/ 0 h 2380792"/>
                <a:gd name="connsiteX1" fmla="*/ 1223822 w 1798942"/>
                <a:gd name="connsiteY1" fmla="*/ 288000 h 2380792"/>
                <a:gd name="connsiteX2" fmla="*/ 1223548 w 1798942"/>
                <a:gd name="connsiteY2" fmla="*/ 290717 h 2380792"/>
                <a:gd name="connsiteX3" fmla="*/ 1510942 w 1798942"/>
                <a:gd name="connsiteY3" fmla="*/ 290717 h 2380792"/>
                <a:gd name="connsiteX4" fmla="*/ 1510942 w 1798942"/>
                <a:gd name="connsiteY4" fmla="*/ 833666 h 2380792"/>
                <a:gd name="connsiteX5" fmla="*/ 1798942 w 1798942"/>
                <a:gd name="connsiteY5" fmla="*/ 1121666 h 2380792"/>
                <a:gd name="connsiteX6" fmla="*/ 1510942 w 1798942"/>
                <a:gd name="connsiteY6" fmla="*/ 1409666 h 2380792"/>
                <a:gd name="connsiteX7" fmla="*/ 1510942 w 1798942"/>
                <a:gd name="connsiteY7" fmla="*/ 2092792 h 2380792"/>
                <a:gd name="connsiteX8" fmla="*/ 1311814 w 1798942"/>
                <a:gd name="connsiteY8" fmla="*/ 2092792 h 2380792"/>
                <a:gd name="connsiteX9" fmla="*/ 1023814 w 1798942"/>
                <a:gd name="connsiteY9" fmla="*/ 2380792 h 2380792"/>
                <a:gd name="connsiteX10" fmla="*/ 735814 w 1798942"/>
                <a:gd name="connsiteY10" fmla="*/ 2092792 h 2380792"/>
                <a:gd name="connsiteX11" fmla="*/ 315377 w 1798942"/>
                <a:gd name="connsiteY11" fmla="*/ 2092792 h 2380792"/>
                <a:gd name="connsiteX12" fmla="*/ 315377 w 1798942"/>
                <a:gd name="connsiteY12" fmla="*/ 1448392 h 2380792"/>
                <a:gd name="connsiteX13" fmla="*/ 288000 w 1798942"/>
                <a:gd name="connsiteY13" fmla="*/ 1451152 h 2380792"/>
                <a:gd name="connsiteX14" fmla="*/ 0 w 1798942"/>
                <a:gd name="connsiteY14" fmla="*/ 1163152 h 2380792"/>
                <a:gd name="connsiteX15" fmla="*/ 288000 w 1798942"/>
                <a:gd name="connsiteY15" fmla="*/ 875152 h 2380792"/>
                <a:gd name="connsiteX16" fmla="*/ 315377 w 1798942"/>
                <a:gd name="connsiteY16" fmla="*/ 877912 h 2380792"/>
                <a:gd name="connsiteX17" fmla="*/ 315377 w 1798942"/>
                <a:gd name="connsiteY17" fmla="*/ 290717 h 2380792"/>
                <a:gd name="connsiteX18" fmla="*/ 648096 w 1798942"/>
                <a:gd name="connsiteY18" fmla="*/ 290717 h 2380792"/>
                <a:gd name="connsiteX19" fmla="*/ 647822 w 1798942"/>
                <a:gd name="connsiteY19" fmla="*/ 288000 h 2380792"/>
                <a:gd name="connsiteX20" fmla="*/ 935822 w 1798942"/>
                <a:gd name="connsiteY20" fmla="*/ 0 h 2380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98942" h="2380792">
                  <a:moveTo>
                    <a:pt x="935822" y="0"/>
                  </a:moveTo>
                  <a:cubicBezTo>
                    <a:pt x="1094880" y="0"/>
                    <a:pt x="1223822" y="128942"/>
                    <a:pt x="1223822" y="288000"/>
                  </a:cubicBezTo>
                  <a:lnTo>
                    <a:pt x="1223548" y="290717"/>
                  </a:lnTo>
                  <a:lnTo>
                    <a:pt x="1510942" y="290717"/>
                  </a:lnTo>
                  <a:lnTo>
                    <a:pt x="1510942" y="833666"/>
                  </a:lnTo>
                  <a:cubicBezTo>
                    <a:pt x="1670000" y="833666"/>
                    <a:pt x="1798942" y="962608"/>
                    <a:pt x="1798942" y="1121666"/>
                  </a:cubicBezTo>
                  <a:cubicBezTo>
                    <a:pt x="1798942" y="1280724"/>
                    <a:pt x="1670000" y="1409666"/>
                    <a:pt x="1510942" y="1409666"/>
                  </a:cubicBezTo>
                  <a:lnTo>
                    <a:pt x="1510942" y="2092792"/>
                  </a:lnTo>
                  <a:lnTo>
                    <a:pt x="1311814" y="2092792"/>
                  </a:lnTo>
                  <a:cubicBezTo>
                    <a:pt x="1311814" y="2251850"/>
                    <a:pt x="1182872" y="2380792"/>
                    <a:pt x="1023814" y="2380792"/>
                  </a:cubicBezTo>
                  <a:cubicBezTo>
                    <a:pt x="864756" y="2380792"/>
                    <a:pt x="735814" y="2251850"/>
                    <a:pt x="735814" y="2092792"/>
                  </a:cubicBezTo>
                  <a:lnTo>
                    <a:pt x="315377" y="2092792"/>
                  </a:lnTo>
                  <a:lnTo>
                    <a:pt x="315377" y="1448392"/>
                  </a:lnTo>
                  <a:lnTo>
                    <a:pt x="288000" y="1451152"/>
                  </a:lnTo>
                  <a:cubicBezTo>
                    <a:pt x="128942" y="1451152"/>
                    <a:pt x="0" y="1322210"/>
                    <a:pt x="0" y="1163152"/>
                  </a:cubicBezTo>
                  <a:cubicBezTo>
                    <a:pt x="0" y="1004094"/>
                    <a:pt x="128942" y="875152"/>
                    <a:pt x="288000" y="875152"/>
                  </a:cubicBezTo>
                  <a:lnTo>
                    <a:pt x="315377" y="877912"/>
                  </a:lnTo>
                  <a:lnTo>
                    <a:pt x="315377" y="290717"/>
                  </a:lnTo>
                  <a:lnTo>
                    <a:pt x="648096" y="290717"/>
                  </a:lnTo>
                  <a:lnTo>
                    <a:pt x="647822" y="288000"/>
                  </a:lnTo>
                  <a:cubicBezTo>
                    <a:pt x="647822" y="128942"/>
                    <a:pt x="776764" y="0"/>
                    <a:pt x="935822" y="0"/>
                  </a:cubicBezTo>
                  <a:close/>
                </a:path>
              </a:pathLst>
            </a:custGeom>
            <a:ln w="9525">
              <a:solidFill>
                <a:schemeClr val="tx1"/>
              </a:solidFill>
            </a:ln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892D201-3CCC-65AB-7808-0F845155CDCE}"/>
                </a:ext>
              </a:extLst>
            </p:cNvPr>
            <p:cNvSpPr txBox="1"/>
            <p:nvPr/>
          </p:nvSpPr>
          <p:spPr>
            <a:xfrm>
              <a:off x="6141786" y="1786607"/>
              <a:ext cx="13390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MODEL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4738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401C7B-2C72-D19B-8452-C8F717B49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325" y="416337"/>
            <a:ext cx="9982773" cy="6239234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620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3F205C-7BCD-38DB-7BC6-609EE85B2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9BAABE-6A7A-CB7C-1050-3FC013EEB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325" y="416337"/>
            <a:ext cx="9982773" cy="623923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4487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</Words>
  <Application>Microsoft Office PowerPoint</Application>
  <PresentationFormat>Widescreen</PresentationFormat>
  <Paragraphs>11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Tw Cen MT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Rahul Manoj</dc:creator>
  <cp:lastModifiedBy>Rahul Manoj</cp:lastModifiedBy>
  <cp:revision>1</cp:revision>
  <dcterms:created xsi:type="dcterms:W3CDTF">2026-03-21T12:32:40Z</dcterms:created>
  <dcterms:modified xsi:type="dcterms:W3CDTF">2026-03-21T12:36:20Z</dcterms:modified>
</cp:coreProperties>
</file>